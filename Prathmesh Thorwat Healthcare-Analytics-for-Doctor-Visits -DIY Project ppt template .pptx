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46" r:id="rId17"/>
    <p:sldId id="347"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MESH THORWAT" userId="134767541025f78a" providerId="LiveId" clId="{3B887098-64F3-439B-BD94-C65A83900DE4}"/>
    <pc:docChg chg="modSld">
      <pc:chgData name="PRATHMESH THORWAT" userId="134767541025f78a" providerId="LiveId" clId="{3B887098-64F3-439B-BD94-C65A83900DE4}" dt="2026-09-17T14:07:26.667" v="0" actId="20577"/>
      <pc:docMkLst>
        <pc:docMk/>
      </pc:docMkLst>
      <pc:sldChg chg="modSp mod">
        <pc:chgData name="PRATHMESH THORWAT" userId="134767541025f78a" providerId="LiveId" clId="{3B887098-64F3-439B-BD94-C65A83900DE4}" dt="2026-09-17T14:07:26.667" v="0" actId="20577"/>
        <pc:sldMkLst>
          <pc:docMk/>
          <pc:sldMk cId="2678433474" sldId="347"/>
        </pc:sldMkLst>
        <pc:spChg chg="mod">
          <ac:chgData name="PRATHMESH THORWAT" userId="134767541025f78a" providerId="LiveId" clId="{3B887098-64F3-439B-BD94-C65A83900DE4}" dt="2026-09-17T14:07:26.667" v="0" actId="20577"/>
          <ac:spMkLst>
            <pc:docMk/>
            <pc:sldMk cId="2678433474" sldId="347"/>
            <ac:spMk id="2" creationId="{6BE35596-AEBF-388C-A55A-2AA15E10AC6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mrsonu-boop/Healthcare-Analytics-for-Doctor-Visits" TargetMode="Externa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4324649" cy="861497"/>
          </a:xfrm>
        </p:spPr>
        <p:txBody>
          <a:bodyPr/>
          <a:lstStyle/>
          <a:p>
            <a:pPr algn="r"/>
            <a:r>
              <a:rPr lang="en-US" b="0" dirty="0">
                <a:solidFill>
                  <a:schemeClr val="tx1"/>
                </a:solidFill>
              </a:rPr>
              <a:t>[</a:t>
            </a:r>
            <a:r>
              <a:rPr lang="en-US" dirty="0"/>
              <a:t>STU6a07fdf0488dd1778908656</a:t>
            </a: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423920" y="2783577"/>
            <a:ext cx="8050231" cy="743448"/>
          </a:xfrm>
        </p:spPr>
        <p:txBody>
          <a:bodyPr>
            <a:normAutofit fontScale="90000"/>
          </a:bodyPr>
          <a:lstStyle/>
          <a:p>
            <a:r>
              <a:rPr lang="en-GB" sz="3600" b="1" dirty="0"/>
              <a:t>Project Title - </a:t>
            </a:r>
            <a:r>
              <a:rPr lang="en-US" sz="3600" b="1" dirty="0"/>
              <a:t>Healthcare Analytics for Doctor Visits</a:t>
            </a:r>
            <a:br>
              <a:rPr lang="en-US"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85000" lnSpcReduction="20000"/>
          </a:bodyPr>
          <a:lstStyle/>
          <a:p>
            <a:pPr lvl="0"/>
            <a:r>
              <a:rPr lang="en-US" sz="2800" dirty="0"/>
              <a:t>Healthcare organizations struggle to predict patient visit frequencies and manage resource allocation efficiently.</a:t>
            </a:r>
          </a:p>
          <a:p>
            <a:pPr lvl="0"/>
            <a:r>
              <a:rPr lang="en-US" sz="2800" dirty="0"/>
              <a:t>Lack of clear visibility into how socioeconomic status, chronic illnesses, and demographic factors influence patient healthcare utilization.</a:t>
            </a:r>
          </a:p>
          <a:p>
            <a:pPr lvl="0"/>
            <a:r>
              <a:rPr lang="en-US" sz="2800" dirty="0"/>
              <a:t>High demand for automated, data-driven insights to help clinics and hospitals understand patient visit patterns.</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pPr lvl="0"/>
            <a:r>
              <a:rPr lang="en-GB" dirty="0"/>
              <a:t>Project Description</a:t>
            </a:r>
            <a:br>
              <a:rPr lang="en-GB" dirty="0"/>
            </a:br>
            <a:br>
              <a:rPr lang="en-GB" dirty="0"/>
            </a:br>
            <a:r>
              <a:rPr lang="en-US" sz="2200" b="0" dirty="0"/>
              <a:t>Developed an end-to-end exploratory data analysis and visualization pipeline in Python using the Doctor Visits healthcare dataset.</a:t>
            </a:r>
            <a:br>
              <a:rPr lang="en-US" sz="2200" b="0" dirty="0"/>
            </a:br>
            <a:br>
              <a:rPr lang="en-US" sz="2200" b="0" dirty="0"/>
            </a:br>
            <a:r>
              <a:rPr lang="en-US" sz="2200" b="0" dirty="0"/>
              <a:t>Cleaned, preprocessed, and analyzed 5,190 patient records covering demographics, income levels, illness counts, and insurance coverage.</a:t>
            </a:r>
            <a:br>
              <a:rPr lang="en-US" sz="2200" b="0" dirty="0"/>
            </a:br>
            <a:br>
              <a:rPr lang="en-US" sz="2200" b="0" dirty="0"/>
            </a:br>
            <a:r>
              <a:rPr lang="en-US" sz="2200" b="0" dirty="0"/>
              <a:t>Generated comprehensive statistical summaries and visual distributions using Pandas, NumPy, Seaborn, and Matplotlib to uncover underlying utilization drivers.</a:t>
            </a:r>
            <a:br>
              <a:rPr lang="en-US" sz="2200"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US" sz="3600" b="1" dirty="0"/>
              <a:t>Healthcare Providers &amp; Clinics:</a:t>
            </a:r>
            <a:r>
              <a:rPr lang="en-US" sz="3600" dirty="0"/>
              <a:t> To anticipate patient volumes and streamline clinical staffing.</a:t>
            </a:r>
          </a:p>
          <a:p>
            <a:pPr lvl="0"/>
            <a:r>
              <a:rPr lang="en-US" sz="3600" b="1" dirty="0"/>
              <a:t>Hospital Administrators:</a:t>
            </a:r>
            <a:r>
              <a:rPr lang="en-US" sz="3600" dirty="0"/>
              <a:t> For resource planning and understanding demographic healthcare demands.</a:t>
            </a:r>
          </a:p>
          <a:p>
            <a:pPr lvl="0"/>
            <a:r>
              <a:rPr lang="en-US" sz="3600" b="1" dirty="0"/>
              <a:t>Insurance Analysts:</a:t>
            </a:r>
            <a:r>
              <a:rPr lang="en-US" sz="3600" dirty="0"/>
              <a:t> To evaluate risk profiles across different coverage categories (private, free-poor, free-repat).</a:t>
            </a:r>
          </a:p>
          <a:p>
            <a:pPr lvl="0"/>
            <a:r>
              <a:rPr lang="en-US" sz="3600" b="1" dirty="0"/>
              <a:t>Researchers &amp; Data Scientists:</a:t>
            </a:r>
            <a:r>
              <a:rPr lang="en-US" sz="3600" dirty="0"/>
              <a:t> As a foundational analytics framework for advanced predictive modeling.</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766538" y="1420689"/>
            <a:ext cx="9027702" cy="5243448"/>
          </a:xfrm>
        </p:spPr>
        <p:txBody>
          <a:bodyPr/>
          <a:lstStyle/>
          <a:p>
            <a:pPr lvl="0"/>
            <a:r>
              <a:rPr lang="en-US" b="1" dirty="0"/>
              <a:t>Core Language:</a:t>
            </a:r>
            <a:r>
              <a:rPr lang="en-US" dirty="0"/>
              <a:t> Python</a:t>
            </a:r>
          </a:p>
          <a:p>
            <a:pPr lvl="0"/>
            <a:r>
              <a:rPr lang="en-US" b="1" dirty="0"/>
              <a:t>Data Processing &amp; Analysis:</a:t>
            </a:r>
            <a:r>
              <a:rPr lang="en-US" dirty="0"/>
              <a:t> Pandas, NumPy</a:t>
            </a:r>
          </a:p>
          <a:p>
            <a:pPr lvl="0"/>
            <a:r>
              <a:rPr lang="en-US" b="1" dirty="0"/>
              <a:t>Data Visualization:</a:t>
            </a:r>
            <a:r>
              <a:rPr lang="en-US" dirty="0"/>
              <a:t> Matplotlib, Seaborn</a:t>
            </a:r>
          </a:p>
          <a:p>
            <a:pPr lvl="0"/>
            <a:r>
              <a:rPr lang="en-US" b="1" dirty="0"/>
              <a:t>Development Environment:</a:t>
            </a:r>
            <a:r>
              <a:rPr lang="en-US" dirty="0"/>
              <a:t> Python Data Science Stack &amp; Jupyter Environment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3" name="Text Placeholder 2">
            <a:extLst>
              <a:ext uri="{FF2B5EF4-FFF2-40B4-BE49-F238E27FC236}">
                <a16:creationId xmlns:a16="http://schemas.microsoft.com/office/drawing/2014/main" id="{C30842E9-2153-A134-07B5-506447DEC81C}"/>
              </a:ext>
            </a:extLst>
          </p:cNvPr>
          <p:cNvSpPr>
            <a:spLocks noGrp="1"/>
          </p:cNvSpPr>
          <p:nvPr>
            <p:ph type="body" sz="quarter" idx="12"/>
          </p:nvPr>
        </p:nvSpPr>
        <p:spPr/>
        <p:txBody>
          <a:bodyPr/>
          <a:lstStyle/>
          <a:p>
            <a:pPr marL="0" indent="0">
              <a:buNone/>
            </a:pPr>
            <a:endParaRPr lang="en-US" dirty="0"/>
          </a:p>
        </p:txBody>
      </p:sp>
      <p:pic>
        <p:nvPicPr>
          <p:cNvPr id="11" name="Picture 10">
            <a:extLst>
              <a:ext uri="{FF2B5EF4-FFF2-40B4-BE49-F238E27FC236}">
                <a16:creationId xmlns:a16="http://schemas.microsoft.com/office/drawing/2014/main" id="{A396C629-1CBB-7971-7E8A-AFA53F4995EE}"/>
              </a:ext>
            </a:extLst>
          </p:cNvPr>
          <p:cNvPicPr>
            <a:picLocks noChangeAspect="1"/>
          </p:cNvPicPr>
          <p:nvPr/>
        </p:nvPicPr>
        <p:blipFill>
          <a:blip r:embed="rId4"/>
          <a:stretch>
            <a:fillRect/>
          </a:stretch>
        </p:blipFill>
        <p:spPr>
          <a:xfrm>
            <a:off x="232144" y="1369126"/>
            <a:ext cx="11402591" cy="442570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4D026A2-7476-44B0-9648-BB98882F7B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4" name="Straight Connector 13">
              <a:extLst>
                <a:ext uri="{FF2B5EF4-FFF2-40B4-BE49-F238E27FC236}">
                  <a16:creationId xmlns:a16="http://schemas.microsoft.com/office/drawing/2014/main" id="{48F8FC21-0A44-4045-95A1-B7935DBC60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209B962-CD29-4D46-A7B0-10F6C7CF1C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CC8D40CF-4D47-411D-A8B7-0E4B29E98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5">
              <a:extLst>
                <a:ext uri="{FF2B5EF4-FFF2-40B4-BE49-F238E27FC236}">
                  <a16:creationId xmlns:a16="http://schemas.microsoft.com/office/drawing/2014/main" id="{9B48A2AD-5257-4384-A7F5-A1EE4E688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04C26DE3-844C-47DA-831E-E7D7BF617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922D975E-0684-4AA6-9FB7-929B250D53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8">
              <a:extLst>
                <a:ext uri="{FF2B5EF4-FFF2-40B4-BE49-F238E27FC236}">
                  <a16:creationId xmlns:a16="http://schemas.microsoft.com/office/drawing/2014/main" id="{38ED5A9A-F0C7-4547-BC1E-22FC89BD2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9">
              <a:extLst>
                <a:ext uri="{FF2B5EF4-FFF2-40B4-BE49-F238E27FC236}">
                  <a16:creationId xmlns:a16="http://schemas.microsoft.com/office/drawing/2014/main" id="{2D743765-A245-4349-A5CE-4AB5F078F9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AF7217B-D042-44D2-9FC7-71FAB6651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1CC9171B-8BEB-48B1-B9BE-E9584522D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5" name="Rectangle 24">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8" name="Straight Connector 27">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Isosceles Triangle 34">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Isosceles Triangle 35">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8" name="Rectangle 37">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445B79E-FBFE-F447-13A7-D9D74E830040}"/>
              </a:ext>
            </a:extLst>
          </p:cNvPr>
          <p:cNvPicPr>
            <a:picLocks noChangeAspect="1"/>
          </p:cNvPicPr>
          <p:nvPr/>
        </p:nvPicPr>
        <p:blipFill>
          <a:blip r:embed="rId2"/>
          <a:stretch>
            <a:fillRect/>
          </a:stretch>
        </p:blipFill>
        <p:spPr>
          <a:xfrm>
            <a:off x="1126309" y="1687466"/>
            <a:ext cx="9941259" cy="3479442"/>
          </a:xfrm>
          <a:prstGeom prst="rect">
            <a:avLst/>
          </a:prstGeom>
        </p:spPr>
      </p:pic>
    </p:spTree>
    <p:extLst>
      <p:ext uri="{BB962C8B-B14F-4D97-AF65-F5344CB8AC3E}">
        <p14:creationId xmlns:p14="http://schemas.microsoft.com/office/powerpoint/2010/main" val="1810931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4D026A2-7476-44B0-9648-BB98882F7B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48F8FC21-0A44-4045-95A1-B7935DBC60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209B962-CD29-4D46-A7B0-10F6C7CF1C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CC8D40CF-4D47-411D-A8B7-0E4B29E98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9B48A2AD-5257-4384-A7F5-A1EE4E688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04C26DE3-844C-47DA-831E-E7D7BF617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922D975E-0684-4AA6-9FB7-929B250D53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8ED5A9A-F0C7-4547-BC1E-22FC89BD2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D743765-A245-4349-A5CE-4AB5F078F9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AF7217B-D042-44D2-9FC7-71FAB6651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1CC9171B-8BEB-48B1-B9BE-E9584522D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3" name="Rectangle 22">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6" name="Straight Connector 25">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6" name="Rectangle 35">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9CC1F83-51D8-6BC3-3910-944410A1AE0E}"/>
              </a:ext>
            </a:extLst>
          </p:cNvPr>
          <p:cNvPicPr>
            <a:picLocks noChangeAspect="1"/>
          </p:cNvPicPr>
          <p:nvPr/>
        </p:nvPicPr>
        <p:blipFill>
          <a:blip r:embed="rId2"/>
          <a:stretch>
            <a:fillRect/>
          </a:stretch>
        </p:blipFill>
        <p:spPr>
          <a:xfrm>
            <a:off x="1126309" y="1687466"/>
            <a:ext cx="9941259" cy="3479442"/>
          </a:xfrm>
          <a:prstGeom prst="rect">
            <a:avLst/>
          </a:prstGeom>
        </p:spPr>
      </p:pic>
    </p:spTree>
    <p:extLst>
      <p:ext uri="{BB962C8B-B14F-4D97-AF65-F5344CB8AC3E}">
        <p14:creationId xmlns:p14="http://schemas.microsoft.com/office/powerpoint/2010/main" val="4014022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4D026A2-7476-44B0-9648-BB98882F7B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48F8FC21-0A44-4045-95A1-B7935DBC60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209B962-CD29-4D46-A7B0-10F6C7CF1C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CC8D40CF-4D47-411D-A8B7-0E4B29E98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9B48A2AD-5257-4384-A7F5-A1EE4E688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04C26DE3-844C-47DA-831E-E7D7BF617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922D975E-0684-4AA6-9FB7-929B250D53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8ED5A9A-F0C7-4547-BC1E-22FC89BD2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D743765-A245-4349-A5CE-4AB5F078F9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AF7217B-D042-44D2-9FC7-71FAB6651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1CC9171B-8BEB-48B1-B9BE-E9584522D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3" name="Rectangle 22">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6" name="Straight Connector 25">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6" name="Rectangle 35">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E7283CC-560F-2501-F00E-36DB06D9BB3D}"/>
              </a:ext>
            </a:extLst>
          </p:cNvPr>
          <p:cNvPicPr>
            <a:picLocks noChangeAspect="1"/>
          </p:cNvPicPr>
          <p:nvPr/>
        </p:nvPicPr>
        <p:blipFill>
          <a:blip r:embed="rId2"/>
          <a:stretch>
            <a:fillRect/>
          </a:stretch>
        </p:blipFill>
        <p:spPr>
          <a:xfrm>
            <a:off x="1126309" y="1911145"/>
            <a:ext cx="9941259" cy="3032083"/>
          </a:xfrm>
          <a:prstGeom prst="rect">
            <a:avLst/>
          </a:prstGeom>
        </p:spPr>
      </p:pic>
    </p:spTree>
    <p:extLst>
      <p:ext uri="{BB962C8B-B14F-4D97-AF65-F5344CB8AC3E}">
        <p14:creationId xmlns:p14="http://schemas.microsoft.com/office/powerpoint/2010/main" val="2017164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4D026A2-7476-44B0-9648-BB98882F7B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48F8FC21-0A44-4045-95A1-B7935DBC60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209B962-CD29-4D46-A7B0-10F6C7CF1C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CC8D40CF-4D47-411D-A8B7-0E4B29E98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9B48A2AD-5257-4384-A7F5-A1EE4E688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04C26DE3-844C-47DA-831E-E7D7BF617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922D975E-0684-4AA6-9FB7-929B250D53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8ED5A9A-F0C7-4547-BC1E-22FC89BD2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D743765-A245-4349-A5CE-4AB5F078F9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AF7217B-D042-44D2-9FC7-71FAB6651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1CC9171B-8BEB-48B1-B9BE-E9584522D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3" name="Rectangle 22">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6" name="Straight Connector 25">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6" name="Rectangle 35">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AE6FD9B-61CD-51BE-ED40-10EC6A5A4524}"/>
              </a:ext>
            </a:extLst>
          </p:cNvPr>
          <p:cNvPicPr>
            <a:picLocks noChangeAspect="1"/>
          </p:cNvPicPr>
          <p:nvPr/>
        </p:nvPicPr>
        <p:blipFill>
          <a:blip r:embed="rId2"/>
          <a:stretch>
            <a:fillRect/>
          </a:stretch>
        </p:blipFill>
        <p:spPr>
          <a:xfrm>
            <a:off x="3488765" y="1131994"/>
            <a:ext cx="5216347" cy="4590386"/>
          </a:xfrm>
          <a:prstGeom prst="rect">
            <a:avLst/>
          </a:prstGeom>
        </p:spPr>
      </p:pic>
    </p:spTree>
    <p:extLst>
      <p:ext uri="{BB962C8B-B14F-4D97-AF65-F5344CB8AC3E}">
        <p14:creationId xmlns:p14="http://schemas.microsoft.com/office/powerpoint/2010/main" val="1821717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4D026A2-7476-44B0-9648-BB98882F7B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48F8FC21-0A44-4045-95A1-B7935DBC60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209B962-CD29-4D46-A7B0-10F6C7CF1C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CC8D40CF-4D47-411D-A8B7-0E4B29E98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9B48A2AD-5257-4384-A7F5-A1EE4E688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04C26DE3-844C-47DA-831E-E7D7BF617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922D975E-0684-4AA6-9FB7-929B250D53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8ED5A9A-F0C7-4547-BC1E-22FC89BD2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D743765-A245-4349-A5CE-4AB5F078F9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AF7217B-D042-44D2-9FC7-71FAB6651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1CC9171B-8BEB-48B1-B9BE-E9584522D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3" name="Rectangle 22">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6" name="Straight Connector 25">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6" name="Rectangle 35">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5802E3A-8FEE-7B40-252C-34641337A2E3}"/>
              </a:ext>
            </a:extLst>
          </p:cNvPr>
          <p:cNvPicPr>
            <a:picLocks noChangeAspect="1"/>
          </p:cNvPicPr>
          <p:nvPr/>
        </p:nvPicPr>
        <p:blipFill>
          <a:blip r:embed="rId2"/>
          <a:stretch>
            <a:fillRect/>
          </a:stretch>
        </p:blipFill>
        <p:spPr>
          <a:xfrm>
            <a:off x="1766384" y="1131994"/>
            <a:ext cx="8661108" cy="4590386"/>
          </a:xfrm>
          <a:prstGeom prst="rect">
            <a:avLst/>
          </a:prstGeom>
        </p:spPr>
      </p:pic>
    </p:spTree>
    <p:extLst>
      <p:ext uri="{BB962C8B-B14F-4D97-AF65-F5344CB8AC3E}">
        <p14:creationId xmlns:p14="http://schemas.microsoft.com/office/powerpoint/2010/main" val="2851226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4D026A2-7476-44B0-9648-BB98882F7B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48F8FC21-0A44-4045-95A1-B7935DBC60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209B962-CD29-4D46-A7B0-10F6C7CF1C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CC8D40CF-4D47-411D-A8B7-0E4B29E98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9B48A2AD-5257-4384-A7F5-A1EE4E688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04C26DE3-844C-47DA-831E-E7D7BF617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922D975E-0684-4AA6-9FB7-929B250D53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8ED5A9A-F0C7-4547-BC1E-22FC89BD2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D743765-A245-4349-A5CE-4AB5F078F9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AF7217B-D042-44D2-9FC7-71FAB6651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1CC9171B-8BEB-48B1-B9BE-E9584522D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3" name="Rectangle 22">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6" name="Straight Connector 25">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6" name="Rectangle 35">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A73E5A8-0EBB-D7BF-E063-B4E0C39814BF}"/>
              </a:ext>
            </a:extLst>
          </p:cNvPr>
          <p:cNvPicPr>
            <a:picLocks noChangeAspect="1"/>
          </p:cNvPicPr>
          <p:nvPr/>
        </p:nvPicPr>
        <p:blipFill>
          <a:blip r:embed="rId2"/>
          <a:stretch>
            <a:fillRect/>
          </a:stretch>
        </p:blipFill>
        <p:spPr>
          <a:xfrm>
            <a:off x="1766384" y="1131994"/>
            <a:ext cx="8661108" cy="4590386"/>
          </a:xfrm>
          <a:prstGeom prst="rect">
            <a:avLst/>
          </a:prstGeom>
        </p:spPr>
      </p:pic>
    </p:spTree>
    <p:extLst>
      <p:ext uri="{BB962C8B-B14F-4D97-AF65-F5344CB8AC3E}">
        <p14:creationId xmlns:p14="http://schemas.microsoft.com/office/powerpoint/2010/main" val="1739981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4D026A2-7476-44B0-9648-BB98882F7B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48F8FC21-0A44-4045-95A1-B7935DBC60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209B962-CD29-4D46-A7B0-10F6C7CF1C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CC8D40CF-4D47-411D-A8B7-0E4B29E98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9B48A2AD-5257-4384-A7F5-A1EE4E688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04C26DE3-844C-47DA-831E-E7D7BF617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922D975E-0684-4AA6-9FB7-929B250D53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8ED5A9A-F0C7-4547-BC1E-22FC89BD2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D743765-A245-4349-A5CE-4AB5F078F9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AF7217B-D042-44D2-9FC7-71FAB6651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1CC9171B-8BEB-48B1-B9BE-E9584522D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3" name="Rectangle 22">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6" name="Straight Connector 25">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6" name="Rectangle 35">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24A9EBF-D4AC-3694-6CBC-BD2CB0B98FDC}"/>
              </a:ext>
            </a:extLst>
          </p:cNvPr>
          <p:cNvPicPr>
            <a:picLocks noChangeAspect="1"/>
          </p:cNvPicPr>
          <p:nvPr/>
        </p:nvPicPr>
        <p:blipFill>
          <a:blip r:embed="rId2"/>
          <a:stretch>
            <a:fillRect/>
          </a:stretch>
        </p:blipFill>
        <p:spPr>
          <a:xfrm>
            <a:off x="1766384" y="1131994"/>
            <a:ext cx="8661108" cy="4590386"/>
          </a:xfrm>
          <a:prstGeom prst="rect">
            <a:avLst/>
          </a:prstGeom>
        </p:spPr>
      </p:pic>
    </p:spTree>
    <p:extLst>
      <p:ext uri="{BB962C8B-B14F-4D97-AF65-F5344CB8AC3E}">
        <p14:creationId xmlns:p14="http://schemas.microsoft.com/office/powerpoint/2010/main" val="2131818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E35596-AEBF-388C-A55A-2AA15E10AC62}"/>
              </a:ext>
            </a:extLst>
          </p:cNvPr>
          <p:cNvSpPr>
            <a:spLocks noGrp="1"/>
          </p:cNvSpPr>
          <p:nvPr>
            <p:ph type="body" sz="quarter" idx="12"/>
          </p:nvPr>
        </p:nvSpPr>
        <p:spPr/>
        <p:txBody>
          <a:bodyPr/>
          <a:lstStyle/>
          <a:p>
            <a:r>
              <a:rPr lang="en-US" dirty="0">
                <a:hlinkClick r:id="rId2"/>
              </a:rPr>
              <a:t>https://github.com/mrsonu-boop/Healthcare-Analytics-for-Doctor-Visits</a:t>
            </a:r>
            <a:endParaRPr lang="en-US" dirty="0"/>
          </a:p>
          <a:p>
            <a:endParaRPr lang="en-US"/>
          </a:p>
          <a:p>
            <a:endParaRPr lang="en-US"/>
          </a:p>
        </p:txBody>
      </p:sp>
      <p:sp>
        <p:nvSpPr>
          <p:cNvPr id="4" name="Title 3">
            <a:extLst>
              <a:ext uri="{FF2B5EF4-FFF2-40B4-BE49-F238E27FC236}">
                <a16:creationId xmlns:a16="http://schemas.microsoft.com/office/drawing/2014/main" id="{38CA5582-D507-8932-1F2B-36AD1B1644D5}"/>
              </a:ext>
            </a:extLst>
          </p:cNvPr>
          <p:cNvSpPr>
            <a:spLocks noGrp="1"/>
          </p:cNvSpPr>
          <p:nvPr>
            <p:ph type="title"/>
          </p:nvPr>
        </p:nvSpPr>
        <p:spPr/>
        <p:txBody>
          <a:bodyPr/>
          <a:lstStyle/>
          <a:p>
            <a:r>
              <a:rPr lang="en-US" dirty="0"/>
              <a:t>Link :</a:t>
            </a:r>
          </a:p>
        </p:txBody>
      </p:sp>
    </p:spTree>
    <p:extLst>
      <p:ext uri="{BB962C8B-B14F-4D97-AF65-F5344CB8AC3E}">
        <p14:creationId xmlns:p14="http://schemas.microsoft.com/office/powerpoint/2010/main" val="2678433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3176355"/>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r>
              <a:rPr lang="en-IN" dirty="0"/>
              <a:t> </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570</TotalTime>
  <Words>253</Words>
  <Application>Microsoft Office PowerPoint</Application>
  <PresentationFormat>Widescreen</PresentationFormat>
  <Paragraphs>26</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Healthcare Analytics for Doctor Visits </vt:lpstr>
      <vt:lpstr>PROBLEM  STATEMENT</vt:lpstr>
      <vt:lpstr>Project Description  Developed an end-to-end exploratory data analysis and visualization pipeline in Python using the Doctor Visits healthcare dataset.  Cleaned, preprocessed, and analyzed 5,190 patient records covering demographics, income levels, illness counts, and insurance coverage.  Generated comprehensive statistical summaries and visual distributions using Pandas, NumPy, Seaborn, and Matplotlib to uncover underlying utilization drivers.  </vt:lpstr>
      <vt:lpstr>WHO ARE THE END USERS?</vt:lpstr>
      <vt:lpstr>Technology Used</vt:lpstr>
      <vt:lpstr>RESULTS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PRATHMESH THORWAT</cp:lastModifiedBy>
  <cp:revision>75</cp:revision>
  <dcterms:created xsi:type="dcterms:W3CDTF">2021-07-11T13:13:15Z</dcterms:created>
  <dcterms:modified xsi:type="dcterms:W3CDTF">2026-09-17T14:07:35Z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